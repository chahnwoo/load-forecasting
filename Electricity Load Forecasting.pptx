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23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Today we will present our CAISO electricity load forecasting project. The goal was to build a reproducible end-to-end workflow for collecting electricity load and weather data, constructing forecasting features, training multiple models, and evaluating forecast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objective was to construct a complete forecasting workflow. We collected, aligned, and cleaned data before training and evaluating several models. This made the project closer to a real forecasting pipeline than a one-off modeling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starts with CAISO historical load and Open-Meteo weather data. The data is aligned by timestamp, enriched with engineered features, filtered, and then passed into monthly model training and evaluation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came from CAISO hourly load data. Weather features came from Open-Meteo. Calendar and lagged load features were added to represent repeated human activity patterns and weekly load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key lesson was that forecasting depends on clean timestamp alignment. An off-by-one-hour error can make model results look worse or better for the wrong reason, so preprocessing focused heavily on consistent hourly UTC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without observed load or previous-week load were removed because they cannot support supervised model training. The filtered dataset became the core modeling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feature engineering reflects basic load forecasting intuition. Weather drives heating and cooling demand, calendar variables capture human schedules, previous-week load captures weekly repetition, and hour indicators capture intraday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hour indicator variables were motivated by error analysis. Errors differed by hour of day, and electricity demand has a strong daily shape. The indicator approach allows a simple linear model to adjust for that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set included classical linear methods and neural sequence models. We evaluated them in a month-specific forecasting regime, saving prediction and metrics files for each model and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both MAE and RMSE because they emphasize different aspects of accuracy. We also evaluated errors by month and hour to reveal structure that aggregate metrics can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fabricating numbers, this slide summarizes the result artifacts produced by the project: metrics by model and month, hourly diagnostics, and prediction files. The actual numeric values should be inserted from the final model outputs if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technical lesson was that model quality depends on preprocessing quality. Timestamp mistakes, missing load values, or weak features can dominate the choice of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market context, load forecasting is not only an engineering task. Demand is a major input to price expectations, trading views, and risk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 is moving from historical backtesting to true next-day forecasting. That requires forecasted weather inputs, automated data refreshes, and a reliable way to publish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the project covered data acquisition, feature engineering, model training, and forecast evaluation. Thank you for your time. We are happy to answer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CAISO Load Forecasting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58368" y="1261872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CAISO Electricity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Load Forecasting Project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04088" y="277063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D7E"/>
                </a:solidFill>
              </a:rPr>
              <a:t>Data engineering, feature construction, model training, and forecast evaluation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" y="3310128"/>
            <a:ext cx="1828800" cy="0"/>
          </a:xfrm>
          <a:prstGeom prst="line">
            <a:avLst/>
          </a:prstGeom>
          <a:noFill/>
          <a:ln w="381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38221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447"/>
                </a:solidFill>
              </a:rPr>
              <a:t>Presented at Millennium Management Global Investment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424281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Andrew Park, Rahul Basak, Edwin Lin, Ronald Feng | 2026.05.01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4380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95528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6676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8972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1268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42416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835640" y="1325880"/>
            <a:ext cx="0" cy="406908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60920" y="1508760"/>
            <a:ext cx="3657600" cy="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011680"/>
            <a:ext cx="3657600" cy="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60920" y="2514600"/>
            <a:ext cx="3657600" cy="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60920" y="3017520"/>
            <a:ext cx="3657600" cy="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60920" y="3520440"/>
            <a:ext cx="3657600" cy="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60920" y="4023360"/>
            <a:ext cx="3657600" cy="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60920" y="4526280"/>
            <a:ext cx="3657600" cy="0"/>
          </a:xfrm>
          <a:prstGeom prst="line">
            <a:avLst/>
          </a:prstGeom>
          <a:noFill/>
          <a:ln w="1016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35240" y="4480560"/>
            <a:ext cx="128016" cy="128016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66760" y="3383280"/>
            <a:ext cx="128016" cy="128016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235440" y="3840480"/>
            <a:ext cx="128016" cy="128016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21240" y="2514600"/>
            <a:ext cx="128016" cy="128016"/>
          </a:xfrm>
          <a:prstGeom prst="ellipse">
            <a:avLst/>
          </a:prstGeom>
          <a:solidFill>
            <a:srgbClr val="56CFE1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744200" y="2926080"/>
            <a:ext cx="128016" cy="128016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Build a reproducible hourly load forecasting workflow for CAISO regions.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We focused on the full forecasting lifecycle rather than only a single model.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21488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hourly electricity load for CAISO and selected regional zones.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77240" y="2688336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1832" y="26243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historical load, weather, calendar, lagged-load, and hour-of-day features.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77240" y="3163824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832" y="30998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and compare different model workflows.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77240" y="3639312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3575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errors by month and hour of day to identify structural weaknesses.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0" y="1444752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1444752"/>
            <a:ext cx="82296" cy="91440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39912" y="160934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Forecasting unit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39912" y="1956816"/>
            <a:ext cx="2697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One row = one region-hour observation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8229600" y="260604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0" y="2606040"/>
            <a:ext cx="82296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39912" y="2770632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Target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39912" y="3118104"/>
            <a:ext cx="2697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Hourly load in megawatts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229600" y="3767328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0" y="3767328"/>
            <a:ext cx="82296" cy="914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39912" y="39319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Evaluation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39912" y="4279392"/>
            <a:ext cx="2697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MAE and RMSE by month and hour</a:t>
            </a:r>
            <a:endParaRPr lang="en-US" sz="10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A clean data path from raw hourly sources to monthly forecast diagnostics.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82296" cy="114300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217627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CAISO load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523744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Monthly workbooks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2514600" y="2578608"/>
            <a:ext cx="32004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98648" y="201168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98648" y="2011680"/>
            <a:ext cx="82296" cy="114300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217627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Weather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08960" y="2523744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Open-Meteo API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818888" y="2578608"/>
            <a:ext cx="32004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02936" y="201168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02936" y="2011680"/>
            <a:ext cx="82296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13248" y="217627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Features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13248" y="2523744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Calendar, lag, hour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7123176" y="2578608"/>
            <a:ext cx="32004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07224" y="201168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07224" y="2011680"/>
            <a:ext cx="82296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17536" y="217627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Models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17536" y="2523744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Linear to neural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9427464" y="2578608"/>
            <a:ext cx="32004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811512" y="201168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811512" y="2011680"/>
            <a:ext cx="82296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21824" y="217627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Evaluation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021824" y="2523744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MAE/RMSE outputs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658368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Pipeline outputs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77240" y="4526280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1832" y="4462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filtered.csv modeling dataset</a:t>
            </a:r>
            <a:endParaRPr lang="en-US" sz="1360" dirty="0"/>
          </a:p>
        </p:txBody>
      </p:sp>
      <p:sp>
        <p:nvSpPr>
          <p:cNvPr id="35" name="Shape 33"/>
          <p:cNvSpPr/>
          <p:nvPr/>
        </p:nvSpPr>
        <p:spPr>
          <a:xfrm>
            <a:off x="777240" y="4873752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41832" y="48097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prediction files</a:t>
            </a:r>
            <a:endParaRPr lang="en-US" sz="1360" dirty="0"/>
          </a:p>
        </p:txBody>
      </p:sp>
      <p:sp>
        <p:nvSpPr>
          <p:cNvPr id="37" name="Shape 35"/>
          <p:cNvSpPr/>
          <p:nvPr/>
        </p:nvSpPr>
        <p:spPr>
          <a:xfrm>
            <a:off x="777240" y="5221224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1832" y="51572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metrics files</a:t>
            </a:r>
            <a:endParaRPr lang="en-US" sz="1360" dirty="0"/>
          </a:p>
        </p:txBody>
      </p:sp>
      <p:sp>
        <p:nvSpPr>
          <p:cNvPr id="39" name="Shape 37"/>
          <p:cNvSpPr/>
          <p:nvPr/>
        </p:nvSpPr>
        <p:spPr>
          <a:xfrm>
            <a:off x="777240" y="5568696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1832" y="5504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error diagnostics</a:t>
            </a:r>
            <a:endParaRPr lang="en-US" sz="1360" dirty="0"/>
          </a:p>
        </p:txBody>
      </p:sp>
      <p:sp>
        <p:nvSpPr>
          <p:cNvPr id="41" name="Shape 39"/>
          <p:cNvSpPr/>
          <p:nvPr/>
        </p:nvSpPr>
        <p:spPr>
          <a:xfrm>
            <a:off x="6446520" y="416052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46520" y="4160520"/>
            <a:ext cx="82296" cy="132588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56832" y="432511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Design principle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656832" y="4672584"/>
            <a:ext cx="4297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Keep the workflow reproducible: change the date range, rerun the collection/preprocessing scripts, then regenerate model outputs.</a:t>
            </a:r>
            <a:endParaRPr lang="en-US" sz="10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 and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The final dataset combines load, weather, calendar, and lagged-demand information.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82296" cy="96012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5819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CAISO Historical EMS Load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1929384"/>
            <a:ext cx="3154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Hourly load by region; target variable = load_mw.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26280" y="1417320"/>
            <a:ext cx="82296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36592" y="15819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Open-Meteo Weather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36592" y="1929384"/>
            <a:ext cx="3154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Hourly temperature, humidity, precipitation, cloud cover, wind, and radiation.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8366760" y="14173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6760" y="1417320"/>
            <a:ext cx="82296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77072" y="1581912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Calendar + Lag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77072" y="1929384"/>
            <a:ext cx="2606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Weekend, holidays, previous-week load, and hour indicators.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713232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8A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REGIONS USED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333756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F7FBFC"/>
          </a:solidFill>
          <a:ln w="889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41071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3"/>
                </a:solidFill>
              </a:rPr>
              <a:t>CAISO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965960" y="333756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F7FBFC"/>
          </a:solidFill>
          <a:ln w="889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11680" y="341071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3"/>
                </a:solidFill>
              </a:rPr>
              <a:t>PG&amp;E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00400" y="333756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F7FBFC"/>
          </a:solidFill>
          <a:ln w="889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46120" y="341071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3"/>
                </a:solidFill>
              </a:rPr>
              <a:t>SCE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31520" y="384048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F7FBFC"/>
          </a:solidFill>
          <a:ln w="889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91363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3"/>
                </a:solidFill>
              </a:rPr>
              <a:t>SDG&amp;E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965960" y="384048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F7FBFC"/>
          </a:solidFill>
          <a:ln w="889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11680" y="391363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3"/>
                </a:solidFill>
              </a:rPr>
              <a:t>VEA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200400" y="3840480"/>
            <a:ext cx="960120" cy="310896"/>
          </a:xfrm>
          <a:prstGeom prst="roundRect">
            <a:avLst>
              <a:gd name="adj" fmla="val 44118"/>
            </a:avLst>
          </a:prstGeom>
          <a:solidFill>
            <a:schemeClr val="bg2">
              <a:lumMod val="90000"/>
            </a:schemeClr>
          </a:solidFill>
          <a:ln w="889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46120" y="391363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3"/>
                </a:solidFill>
              </a:rPr>
              <a:t>MWD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48640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8A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COLUMNS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32120" y="3401568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96712" y="3337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region, time_key, time_utc</a:t>
            </a:r>
            <a:endParaRPr lang="en-US" sz="1330" dirty="0"/>
          </a:p>
        </p:txBody>
      </p:sp>
      <p:sp>
        <p:nvSpPr>
          <p:cNvPr id="36" name="Shape 34"/>
          <p:cNvSpPr/>
          <p:nvPr/>
        </p:nvSpPr>
        <p:spPr>
          <a:xfrm>
            <a:off x="5532120" y="3749040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96712" y="3685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features and degree days</a:t>
            </a:r>
            <a:endParaRPr lang="en-US" sz="1330" dirty="0"/>
          </a:p>
        </p:txBody>
      </p:sp>
      <p:sp>
        <p:nvSpPr>
          <p:cNvPr id="38" name="Shape 36"/>
          <p:cNvSpPr/>
          <p:nvPr/>
        </p:nvSpPr>
        <p:spPr>
          <a:xfrm>
            <a:off x="5532120" y="4096512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96712" y="4032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load_mw and load_previous_week</a:t>
            </a:r>
            <a:endParaRPr lang="en-US" sz="1330" dirty="0"/>
          </a:p>
        </p:txBody>
      </p:sp>
      <p:sp>
        <p:nvSpPr>
          <p:cNvPr id="40" name="Shape 38"/>
          <p:cNvSpPr/>
          <p:nvPr/>
        </p:nvSpPr>
        <p:spPr>
          <a:xfrm>
            <a:off x="5532120" y="4443984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96712" y="43799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 and hour indicators</a:t>
            </a:r>
            <a:endParaRPr lang="en-US" sz="13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engineering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 and Alignment Challenges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Most project risk came from timestamps, file availability, and missing targets.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53619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CAISO data is published as monthly Excel workbooks rather than one clean historical CSV.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777240" y="2093976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2029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or future monthly files may be unavailable, so the pipeline must tolerate missing periods.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77240" y="2587752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25237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CAISO load uses market-time conventions while weather data is UTC-aligned.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777240" y="3081528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" y="30175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with missing load or previous-week load cannot be used for supervised training.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7635240" y="1481328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36992" y="1810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8A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CHECKLIST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973568" y="2331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23591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447"/>
                </a:solidFill>
              </a:rPr>
              <a:t>hourly index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973568" y="2834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8620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447"/>
                </a:solidFill>
              </a:rPr>
              <a:t>timezone conversion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973568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33649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447"/>
                </a:solidFill>
              </a:rPr>
              <a:t>region joins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73568" y="3840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75320" y="3867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447"/>
                </a:solidFill>
              </a:rPr>
              <a:t>null target filter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973568" y="4343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5320" y="43708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447"/>
                </a:solidFill>
              </a:rPr>
              <a:t>repeatable scripts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and Filtering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The cleaned modeling file keeps only rows usable for supervised training.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Rows retained after filtering missing load or previous-week load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3447"/>
                </a:solidFill>
              </a:rPr>
              <a:t>Original rows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31720" y="1993392"/>
            <a:ext cx="6492240" cy="347472"/>
          </a:xfrm>
          <a:prstGeom prst="roundRect">
            <a:avLst>
              <a:gd name="adj" fmla="val 21053"/>
            </a:avLst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06840" y="20208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1F33"/>
                </a:solidFill>
              </a:rPr>
              <a:t>331,632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3447"/>
                </a:solidFill>
              </a:rPr>
              <a:t>Filtered rows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31720" y="2953512"/>
            <a:ext cx="520445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06840" y="29809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1F33"/>
                </a:solidFill>
              </a:rPr>
              <a:t>265,850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3447"/>
                </a:solidFill>
              </a:rPr>
              <a:t>Dropped rows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31720" y="3913632"/>
            <a:ext cx="1287790" cy="347472"/>
          </a:xfrm>
          <a:prstGeom prst="roundRect">
            <a:avLst>
              <a:gd name="adj" fmla="val 21053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06840" y="39410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1F33"/>
                </a:solidFill>
              </a:rPr>
              <a:t>65,782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166360"/>
            <a:ext cx="9326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5166360"/>
            <a:ext cx="82296" cy="68580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7552" y="5330952"/>
            <a:ext cx="8979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Final modeling file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7552" y="5678424"/>
            <a:ext cx="896112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Saved as filtered.csv and used as the main input for model training and evaluation.</a:t>
            </a:r>
            <a:endParaRPr lang="en-US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Features were designed around weather exposure, calendar behavior, and repeated weekly demand.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82296" cy="877824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58191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Weather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1929384"/>
            <a:ext cx="4526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temperature, apparent temperature, humidity, precipitation, cloud cover, wind speed, shortwave radiation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82296" cy="8778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6792" y="158191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Thermal demand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36792" y="1929384"/>
            <a:ext cx="4526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cooling degree days and heating degree days around 65°F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85800" y="2660904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660904"/>
            <a:ext cx="82296" cy="87782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" y="2825496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Calendar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" y="3172968"/>
            <a:ext cx="4526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weekend, U.S. federal holiday, and state holiday indicators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126480" y="2660904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2660904"/>
            <a:ext cx="82296" cy="877824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36792" y="2825496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Lagged demand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36792" y="3172968"/>
            <a:ext cx="4526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previous-week load as a strong baseline signal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85800" y="3904488"/>
            <a:ext cx="48920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" y="3904488"/>
            <a:ext cx="82296" cy="8778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" y="40690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Hourly structure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6112" y="4416552"/>
            <a:ext cx="4526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24 hour-of-day indicators for hour-specific bias terms</a:t>
            </a:r>
            <a:endParaRPr lang="en-US" sz="10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Add Hour-of-Day Indicators?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Hourly errors were not constant, so the linear workflow needed hour-specific adjustments.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664208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6002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intercept cannot represent overnight troughs, morning ramps, and evening peaks equally well.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777240" y="2139696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207568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Adding 24 indicators lets one model learn separate average adjustments for each hour.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77240" y="2615184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255117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preserved one simple model while capturing daily load shape.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6995160" y="1554480"/>
            <a:ext cx="4343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8A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DAILY LOAD SHAPE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 flipV="1">
            <a:off x="7315200" y="3977640"/>
            <a:ext cx="548640" cy="91440"/>
          </a:xfrm>
          <a:prstGeom prst="line">
            <a:avLst/>
          </a:prstGeom>
          <a:noFill/>
          <a:ln w="381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7863840" y="3730751"/>
            <a:ext cx="502920" cy="246889"/>
          </a:xfrm>
          <a:prstGeom prst="line">
            <a:avLst/>
          </a:prstGeom>
          <a:noFill/>
          <a:ln w="381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8366760" y="3547870"/>
            <a:ext cx="548640" cy="182881"/>
          </a:xfrm>
          <a:prstGeom prst="line">
            <a:avLst/>
          </a:prstGeom>
          <a:noFill/>
          <a:ln w="381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8915400" y="3520440"/>
            <a:ext cx="502920" cy="27430"/>
          </a:xfrm>
          <a:prstGeom prst="line">
            <a:avLst/>
          </a:prstGeom>
          <a:noFill/>
          <a:ln w="381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V="1">
            <a:off x="9418320" y="2880360"/>
            <a:ext cx="548640" cy="640080"/>
          </a:xfrm>
          <a:prstGeom prst="line">
            <a:avLst/>
          </a:prstGeom>
          <a:noFill/>
          <a:ln w="381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66960" y="2880360"/>
            <a:ext cx="594360" cy="228600"/>
          </a:xfrm>
          <a:prstGeom prst="line">
            <a:avLst/>
          </a:prstGeom>
          <a:noFill/>
          <a:ln w="381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561320" y="3108960"/>
            <a:ext cx="411480" cy="548640"/>
          </a:xfrm>
          <a:prstGeom prst="line">
            <a:avLst/>
          </a:prstGeom>
          <a:noFill/>
          <a:ln w="381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69480" y="43434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D7E"/>
                </a:solidFill>
              </a:rPr>
              <a:t>overnight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29718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D7E"/>
                </a:solidFill>
              </a:rPr>
              <a:t>morning ramp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29800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D7E"/>
                </a:solidFill>
              </a:rPr>
              <a:t>evening peak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Investigated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We compared interpretable baselines with more flexible sequence models.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344167"/>
            <a:ext cx="4754880" cy="7497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1344167"/>
            <a:ext cx="82296" cy="749799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50876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Linear Regression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1856232"/>
            <a:ext cx="43891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simple, interpretable baseline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749808" y="2148839"/>
            <a:ext cx="4754880" cy="7497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2148839"/>
            <a:ext cx="82296" cy="749799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Ridge Regression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660904"/>
            <a:ext cx="43891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regularized linear model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49808" y="2953511"/>
            <a:ext cx="4754880" cy="7497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2953511"/>
            <a:ext cx="82296" cy="749799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31181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Hinge-style Regression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465576"/>
            <a:ext cx="43891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alternative robust loss workflow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49808" y="3758183"/>
            <a:ext cx="4754880" cy="7497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9808" y="3758183"/>
            <a:ext cx="82296" cy="749799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392277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LSTM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0120" y="4270248"/>
            <a:ext cx="43891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time-series sequence model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749808" y="4562855"/>
            <a:ext cx="4754880" cy="7497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" y="4562855"/>
            <a:ext cx="82296" cy="749799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4727448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Transformer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0120" y="5074920"/>
            <a:ext cx="43891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attention-based temporal model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446520" y="150876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6520" y="1508760"/>
            <a:ext cx="82296" cy="114300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56832" y="1673352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Training regime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56832" y="2020824"/>
            <a:ext cx="4114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For each 2025 target month: train on available prior history, predict the month, save predictions and metrics.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446520" y="306324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46520" y="3063240"/>
            <a:ext cx="82296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56832" y="3227832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Output pattern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656832" y="3575304"/>
            <a:ext cx="4114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model_month_predictions.csv and model_month_metrics.csv for each model-month run.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6446520" y="46177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46520" y="4617720"/>
            <a:ext cx="82296" cy="8229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56832" y="4782312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Target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656832" y="5129784"/>
            <a:ext cx="4114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Hourly load_mw.</a:t>
            </a:r>
            <a:endParaRPr lang="en-US" sz="10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Forecast accuracy was evaluated both in aggregate and by time segment.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82296" cy="105156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16733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MAE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2020824"/>
            <a:ext cx="3474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Average absolute error in megawatts. Easy to interpret and less dominated by outliers.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892040" y="15087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508760"/>
            <a:ext cx="82296" cy="1051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02352" y="16733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RMSE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02352" y="2020824"/>
            <a:ext cx="3474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Root mean squared error. Penalizes large misses more strongly.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80467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Diagnostics generated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3630168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3272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MAE and RMSE trends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023360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3272" y="3959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MAE and RMSE by month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4416552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33272" y="43525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actual-versus-predicted curves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4809744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33272" y="4745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comparison output files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06324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3063240"/>
            <a:ext cx="82296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11112" y="32278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Why segment errors?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11112" y="3575304"/>
            <a:ext cx="3931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 single annual score can hide failures during peak hours, extreme weather periods, or difficult seasonal transitions.</a:t>
            </a:r>
            <a:endParaRPr lang="en-US" sz="10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Artifacts Produced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The project produced files and plots for month-by-month and hour-by-hour analysis.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82296" cy="91440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1673352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Monthly metrics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2020824"/>
            <a:ext cx="4251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line_rmse.png, line_mae.png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82296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45352" y="1673352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Hourly diagnostics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45352" y="2020824"/>
            <a:ext cx="4251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hourly MAE and RMSE by month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77240" y="283464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834640"/>
            <a:ext cx="82296" cy="91440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" y="2999232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Prediction files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7552" y="3346704"/>
            <a:ext cx="4251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actual load, predicted load, error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035040" y="283464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82296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45352" y="2999232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Model runs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45352" y="3346704"/>
            <a:ext cx="4251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linear, ridge, hinge, LSTM, Transformer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868680" y="47548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Important: the deck avoids inventing performance numbers. It presents the pipeline and evaluation structure, while leaving final numeric results to the generated metrics files.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Technical Lessons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Forecasting quality depended as much on data engineering as model choice.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82296" cy="713232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49047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Timestamp alignment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1837944"/>
            <a:ext cx="45262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UTC versus market-time handling was essential.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82296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6792" y="149047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Feature engineering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36792" y="1837944"/>
            <a:ext cx="45262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Lagged load, degree days, calendar features, and hour indicators were central.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85800" y="2350008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350008"/>
            <a:ext cx="82296" cy="7132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" y="251460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Simple baselines matter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" y="2862072"/>
            <a:ext cx="45262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Linear and ridge models provide interpretable benchmarks.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126480" y="2350008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2350008"/>
            <a:ext cx="82296" cy="713232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36792" y="251460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Segmented diagnostics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36792" y="2862072"/>
            <a:ext cx="45262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Month and hour breakdowns reveal where models fail.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85800" y="3374136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" y="3374136"/>
            <a:ext cx="82296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" y="353872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Availability handling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6112" y="3886200"/>
            <a:ext cx="45262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Missing recent CAISO files and null loads must be handled explicitly.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relevance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Relevance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Load forecasts connect directly to power-market risk and decision-making.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636776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5727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is a key driver of electricity price formation.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777240" y="2112264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20482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Weather-sensitive load can affect volatility and peak-period risk.</a:t>
            </a:r>
            <a:endParaRPr lang="en-US" sz="1530" dirty="0"/>
          </a:p>
        </p:txBody>
      </p:sp>
      <p:sp>
        <p:nvSpPr>
          <p:cNvPr id="12" name="Shape 10"/>
          <p:cNvSpPr/>
          <p:nvPr/>
        </p:nvSpPr>
        <p:spPr>
          <a:xfrm>
            <a:off x="777240" y="2587752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25237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forecasts support congestion, demand, and scenario analysis.</a:t>
            </a:r>
            <a:endParaRPr lang="en-US" sz="1530" dirty="0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" y="29992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diagnostics help identify when a forecast may be less reliable.</a:t>
            </a:r>
            <a:endParaRPr lang="en-US" sz="1530" dirty="0"/>
          </a:p>
        </p:txBody>
      </p:sp>
      <p:sp>
        <p:nvSpPr>
          <p:cNvPr id="16" name="Shape 14"/>
          <p:cNvSpPr/>
          <p:nvPr/>
        </p:nvSpPr>
        <p:spPr>
          <a:xfrm>
            <a:off x="6720840" y="169164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20840" y="1691640"/>
            <a:ext cx="82296" cy="749808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31152" y="185623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Load forecast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31152" y="2203704"/>
            <a:ext cx="3017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hourly regional demand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412480" y="2441448"/>
            <a:ext cx="0" cy="329184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20840" y="2953512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2953512"/>
            <a:ext cx="82296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31152" y="311810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Price expectations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31152" y="3465576"/>
            <a:ext cx="3017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market conditions and scarcity risk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412480" y="3703320"/>
            <a:ext cx="0" cy="329184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20840" y="4215384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20840" y="4215384"/>
            <a:ext cx="82296" cy="7498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31152" y="437997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Trading / risk view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31152" y="4727448"/>
            <a:ext cx="3017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hedging, scenarios, exposure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The current pipeline creates a foundation for a live forecasting workflow.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82296" cy="1828800"/>
          </a:xfrm>
          <a:prstGeom prst="rect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167335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Near term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2020824"/>
            <a:ext cx="27432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Automate daily refreshes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Add next-day weather forecasts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Finalize dashboard or leaderboard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434840" y="150876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34840" y="1508760"/>
            <a:ext cx="82296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45152" y="167335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Medium term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5152" y="2020824"/>
            <a:ext cx="27432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Add renewable and price features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Model temperature-hour interactions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Develop region-specific models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8092440" y="150876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92440" y="1508760"/>
            <a:ext cx="82296" cy="1828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02752" y="167335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Long term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02752" y="2020824"/>
            <a:ext cx="27432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Add probabilistic intervals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Build production-grade scheduling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D6D7E"/>
                </a:solidFill>
              </a:rPr>
              <a:t>Enable scenario analysis tools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868680" y="43434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Next practical milestone: connect forecasted weather features to the trained workflow so that the system can generate true next-day forecasts.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914400" cy="0"/>
          </a:xfrm>
          <a:prstGeom prst="line">
            <a:avLst/>
          </a:prstGeom>
          <a:noFill/>
          <a:ln w="25400">
            <a:solidFill>
              <a:srgbClr val="168A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4208" y="9326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A complete CAISO load forecasting workflow was built and evaluated.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4173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Collected and merged CAISO hourly load with weather, calendar, and lagged-load features.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777240" y="1901952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8379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a filtered modeling dataset for supervised training.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777240" y="2322576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22585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hour-of-day indicators to address daily error structure.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" y="267919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multiple model families and generated monthly evaluation artifacts.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777240" y="3163824"/>
            <a:ext cx="73152" cy="73152"/>
          </a:xfrm>
          <a:prstGeom prst="ellipse">
            <a:avLst/>
          </a:prstGeom>
          <a:solidFill>
            <a:srgbClr val="168AAD"/>
          </a:solidFill>
          <a:ln w="12700">
            <a:solidFill>
              <a:srgbClr val="168A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30998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 a practical foundation for live forecasting and market analytics.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8366760" y="18745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41080" y="2249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54380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6D7E"/>
                </a:solidFill>
              </a:rPr>
              <a:t>CAISO Load Forecasting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1725</Words>
  <Application>Microsoft Macintosh PowerPoint</Application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CAISO Electricity Load Forecasting Project</dc:title>
  <dc:subject>CAISO Electricity Load Forecasting Project</dc:subject>
  <dc:creator>OpenAI</dc:creator>
  <cp:lastModifiedBy>Andrew Chahnwoo Park</cp:lastModifiedBy>
  <cp:revision>6</cp:revision>
  <dcterms:created xsi:type="dcterms:W3CDTF">2026-04-29T01:09:21Z</dcterms:created>
  <dcterms:modified xsi:type="dcterms:W3CDTF">2026-04-29T01:39:28Z</dcterms:modified>
</cp:coreProperties>
</file>